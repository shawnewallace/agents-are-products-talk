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theme/sponsorTheme.xml" ContentType="application/vnd.openxmlformats-officedocument.theme+xml"/>
  <Override PartName="/ppt/slideMasters/sponsorMaster.xml" ContentType="application/vnd.openxmlformats-officedocument.presentationml.slideMaster+xml"/>
  <Override PartName="/ppt/slideLayouts/sponsorLayout1.xml" ContentType="application/vnd.openxmlformats-officedocument.presentationml.slideLayout+xml"/>
  <Override PartName="/ppt/slideLayouts/sponsorLayout2.xml" ContentType="application/vnd.openxmlformats-officedocument.presentationml.slideLayout+xml"/>
  <Override PartName="/ppt/slideLayouts/sponsorLayout3.xml" ContentType="application/vnd.openxmlformats-officedocument.presentationml.slideLayout+xml"/>
  <Override PartName="/ppt/slideLayouts/sponsorLayout4.xml" ContentType="application/vnd.openxmlformats-officedocument.presentationml.slideLayout+xml"/>
  <Override PartName="/ppt/slides/sponsorFront.xml" ContentType="application/vnd.openxmlformats-officedocument.presentationml.slide+xml"/>
  <Override PartName="/ppt/slides/sponsorBack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0" r:id="rId25"/>
  </p:sldMasterIdLst>
  <p:sldIdLst>
    <p:sldId id="274" r:id="rId26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3"/>
    <p:sldId id="268" r:id="rId14"/>
    <p:sldId id="269" r:id="rId15"/>
    <p:sldId id="270" r:id="rId16"/>
    <p:sldId id="271" r:id="rId17"/>
    <p:sldId id="273" r:id="rId24"/>
    <p:sldId id="272" r:id="rId18"/>
    <p:sldId id="275" r:id="rId27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<Relationship Id="rId25" Type="http://schemas.openxmlformats.org/officeDocument/2006/relationships/slideMaster" Target="slideMasters/sponsorMaster.xml"/><Relationship Id="rId26" Type="http://schemas.openxmlformats.org/officeDocument/2006/relationships/slide" Target="slides/sponsorFront.xml"/><Relationship Id="rId27" Type="http://schemas.openxmlformats.org/officeDocument/2006/relationships/slide" Target="slides/sponsorBack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Room-filler slide. Quick intro: name, Principal Architect at Centric. One sentence on the promise: by the end you'll have a maturity model to locate your team and a repeatable process for building agents you can maintain, test, and hand off.</a:t>
            </a:r>
            <a:endParaRPr lang="en-US" dirty="0"/>
          </a:p>
          <a:p>
            <a:r>
              <a:rPr lang="en-US" dirty="0"/>
              <a:t>Don't read the quote — it's the thesis; say it in your own words. Then go straight into the story: 'Let me tell you about an engineer I worked with.'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min] Tell it as a STORY, not a slide walk. Anonymized but real: an engineer built out AI-assisted agents completely solo — no design review, no team input — refined them until they worked exactly the way they wanted. Emphasize: genuinely good work. This is not a story about a bad engineer.</a:t>
            </a:r>
            <a:endParaRPr lang="en-US" dirty="0"/>
          </a:p>
          <a:p>
            <a:r>
              <a:rPr lang="en-US" dirty="0"/>
              <a:t>Then the hand-off: the team inherited the assets, not the judgment. Nobody had shaped the constraints, nobody understood the scoping, nobody trusted output they hadn't helped build. Adoption stalled.</a:t>
            </a:r>
            <a:endParaRPr lang="en-US" dirty="0"/>
          </a:p>
          <a:p>
            <a:r>
              <a:rPr lang="en-US" dirty="0"/>
              <a:t>Land the reframe slowly — it's the sentence the whole talk hangs on: the model didn't fail; the practice was never designed to be handed off. A hero's workflow, not an engineered artifact.</a:t>
            </a:r>
            <a:endParaRPr lang="en-US" dirty="0"/>
          </a:p>
          <a:p>
            <a:r>
              <a:rPr lang="en-US" dirty="0"/>
              <a:t>Make the promise (blue line), then transition: 'Why does this keep happening? Because of what AI is actually good at.'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 min] From the 'Wishful Thinking?' blog post. Walk the four cards in reading order.</a:t>
            </a:r>
            <a:endParaRPr lang="en-US" dirty="0"/>
          </a:p>
          <a:p>
            <a:r>
              <a:rPr lang="en-US" dirty="0"/>
              <a:t>Code vs. system: AI is a real accelerant for boilerplate and execution. But software is a set of decisions — structure, boundaries, tradeoffs, 'is it done / is it correct' — and that judgment is still human.</a:t>
            </a:r>
            <a:endParaRPr lang="en-US" dirty="0"/>
          </a:p>
          <a:p>
            <a:r>
              <a:rPr lang="en-US" dirty="0"/>
              <a:t>The split no one names: AI amplifies seniors with taste and quietly leaves juniors behind — a junior can now ship code that LOOKS senior without understanding it. (Preceptorship problem: heroics don't develop the next generation.)</a:t>
            </a:r>
            <a:endParaRPr lang="en-US" dirty="0"/>
          </a:p>
          <a:p>
            <a:r>
              <a:rPr lang="en-US" dirty="0"/>
              <a:t>The hero trap: if the practice works only because a few seniors know when to trust the output, you don't have a practice — you have individual heroics, trapped in heads.</a:t>
            </a:r>
            <a:endParaRPr lang="en-US" dirty="0"/>
          </a:p>
          <a:p>
            <a:r>
              <a:rPr lang="en-US" dirty="0"/>
              <a:t>Real wishful thinking: hoping this works itself out. The alternative is to operationalize — encode the judgment into engineered artifacts the whole team uses. Transition: 'Here's a map for that journey.'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 min] This is YOUR model — own it. Walk L1→L5 briskly; trace two things while climbing: the AI/human ratio rising, and the human role shifting Producer → Reviewer → Director.</a:t>
            </a:r>
            <a:endParaRPr lang="en-US" dirty="0"/>
          </a:p>
          <a:p>
            <a:r>
              <a:rPr lang="en-US" dirty="0"/>
              <a:t>SPEND THE TIME ON THE GAP (badge sits between L3 and L4): the hard jump from 'AI assists, a human ships every change' to 'agents run long-running work and a human directs.' You cannot cross it with prompted heroics — crossing it REQUIRES engineered, governed agents. This gap is the reason for this talk.</a:t>
            </a:r>
            <a:endParaRPr lang="en-US" dirty="0"/>
          </a:p>
          <a:p>
            <a:r>
              <a:rPr lang="en-US" dirty="0"/>
              <a:t>Tie to the cold open: Producer→Reviewer→Director IS the move off hero-dependence — humans stop being the bottleneck producer and start directing an engineered system.</a:t>
            </a:r>
            <a:endParaRPr lang="en-US" dirty="0"/>
          </a:p>
          <a:p>
            <a:r>
              <a:rPr lang="en-US" dirty="0"/>
              <a:t>Position the rest of the talk: everything from here — design rigor, the decomposition, the SDLC roster, governance — is how you cross the gap into L4–L5.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 min] The trap that keeps teams below the gap: an agent is one text box away from 'working,' so they stop there — no source control, no tests, no review.</a:t>
            </a:r>
            <a:endParaRPr lang="en-US" dirty="0"/>
          </a:p>
          <a:p>
            <a:r>
              <a:rPr lang="en-US" dirty="0"/>
              <a:t>Three symptoms of a prompted-not-designed agent: inconsistent (same input, different behavior), unmaintainable (one giant prompt, no named parts), brittle (requirements shift, it quietly breaks). Ask the room: 'Sound familiar?' — usually gets knowing laughs.</a:t>
            </a:r>
            <a:endParaRPr lang="en-US" dirty="0"/>
          </a:p>
          <a:p>
            <a:r>
              <a:rPr lang="en-US" dirty="0"/>
              <a:t>Pitfalls strip at the bottom (from the workshop): task-based agents, vague instructions, over-scoping, no testing, set-and-forget. Transition: 'So what does actually engineering one look like?'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[~1–2 min — don't linger] The capability hierarchy: Prompts (one-off, no tools) → Instructions (always-on guardrails) → Skills (on-demand knowledge) → Agents (specialists with tools + workflow).</a:t>
            </a:r>
            <a:endParaRPr lang="en-US" dirty="0"/>
          </a:p>
          <a:p>
            <a:r>
              <a:rPr lang="en-US" dirty="0"/>
              <a:t>Point: it's the same ladder as the maturity model — agents are the engineered end. This frames the next two slides: what an agent is made of, and how you design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min] The Agent Components model: a system with named parts, not a paragraph. Seven parts: Identity &amp; Role, Responsibilities, Context, Constraints, Process, Output Format, Tone — plus frontmatter (name, description, tools, model, handoffs) as the interface.</a:t>
            </a:r>
            <a:endParaRPr lang="en-US" dirty="0"/>
          </a:p>
          <a:p>
            <a:r>
              <a:rPr lang="en-US" dirty="0"/>
              <a:t>The point to land: NAMED parts are separately testable and separately editable. That's what makes maintenance safe and hand-off possible — you change Context without touching Process. Foreshadow: 'In a minute we'll take a real production agent apart along exactly these lines.'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min] Requirements-and-design work, not prompt tinkering. Flow: define problem + success criteria → identify the role (WHO the agent is) → set scope with explicit out-of-scope → design the output format.</a:t>
            </a:r>
            <a:endParaRPr lang="en-US" dirty="0"/>
          </a:p>
          <a:p>
            <a:r>
              <a:rPr lang="en-US" dirty="0"/>
              <a:t>Three patterns (from the workshop): role-based scope (WHO not WHAT), explicit constraints (ALWAYS/NEVER), structured outputs (defined sections).</a:t>
            </a:r>
            <a:endParaRPr lang="en-US" dirty="0"/>
          </a:p>
          <a:p>
            <a:r>
              <a:rPr lang="en-US" dirty="0"/>
              <a:t>Bottom line matters: you don't have to invent this from a blank page — the industry has converged on this component pattern in open-source libraries. Pointers at the end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[~8–9 min — the centerpiece] Walk architecture-reviewer.agent.md row by row. For each component: what it does, why it's a separate part, how you'd test it, what breaks if you skip it.</a:t>
            </a:r>
            <a:endParaRPr lang="en-US" dirty="0"/>
          </a:p>
          <a:p>
            <a:r>
              <a:rPr lang="en-US" dirty="0"/>
              <a:t>Highlights: Frontmatter is the interface (tools list = capability boundary). Identity &amp; Role sets expertise, not tasks. Context carries the .NET layer rules and known violations — this is where team judgment gets encoded. Constraints are ALWAYS/NEVER — the guardrails you'd otherwise keep in a senior's head. Output Format makes it PR-ready and diffable.</a:t>
            </a:r>
            <a:endParaRPr lang="en-US" dirty="0"/>
          </a:p>
          <a:p>
            <a:r>
              <a:rPr lang="en-US" dirty="0"/>
              <a:t>Land the payoff (dark bar): adding a violation bullet to Context is a one-line change — nothing else breaks. That's maintainability, and exactly what makes it safe to hand to someone else on the team.</a:t>
            </a:r>
            <a:endParaRPr lang="en-US" dirty="0"/>
          </a:p>
          <a:p>
            <a:r>
              <a:rPr lang="en-US" dirty="0"/>
              <a:t>Transition: 'Does this structure actually produce anything? Here's what it flagged.' →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SLIDE: closes the decomposition without a live model call. The previous slide mapped the real .agent.md onto the component template; this shows what that agent actually produced when run against NotificationService.cs (the workshop's Scenario 4 sample: instantiates SmtpEmailSender directly, imports Infrastructure into Application).</a:t>
            </a:r>
            <a:endParaRPr lang="en-US" dirty="0"/>
          </a:p>
          <a:p>
            <a:r>
              <a:rPr lang="en-US" dirty="0"/>
              <a:t>BEFORE FRIDAY: this output is a representative mock-up. Run the agent once against the sample and swap in the real captured Findings if they differ.</a:t>
            </a:r>
            <a:endParaRPr lang="en-US" dirty="0"/>
          </a:p>
          <a:p>
            <a:r>
              <a:rPr lang="en-US" dirty="0"/>
              <a:t>POINT TO LAND #1: the violation flagged is exactly the bullet added to Context on the previous slide — the component edit works, and the output arrives in the agent's fixed Output Format (Summary / Findings / Recommendations, PR-ready).</a:t>
            </a:r>
            <a:endParaRPr lang="en-US" dirty="0"/>
          </a:p>
          <a:p>
            <a:r>
              <a:rPr lang="en-US" dirty="0"/>
              <a:t>POINT TO LAND #2: agents don't make up for a bad process — they amplify and accelerate a good one. Putting agent artifacts under software engineering rigor keeps them aligned with the process, with clear demarcation points between phases. This sets up the SDLC roster and governance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 min] Same architecture, different configuration. Top row in SDLC order: Backlog Generator (requirements), Architecture Reviewer (design/review — gold because you just took it apart), Test Strategist (QA), Quality Gate (pre-merge). Named only — no new deep-dives.</a:t>
            </a:r>
            <a:endParaRPr lang="en-US" dirty="0"/>
          </a:p>
          <a:p>
            <a:r>
              <a:rPr lang="en-US" dirty="0"/>
              <a:t>Point at which component carries the weight for each role: Backlog Generator → Output Format; Test Strategist → Process; Quality Gate → Constraints. Same seven parts every time.</a:t>
            </a:r>
            <a:endParaRPr lang="en-US" dirty="0"/>
          </a:p>
          <a:p>
            <a:r>
              <a:rPr lang="en-US" dirty="0"/>
              <a:t>Bottom row: the handoff chain Spec → Plan → Build → Review. Review is itself an agent — it validates the written code against the spec and does the initial code review. send:false keeps a human approving between every step: human-in-the-loop by design.</a:t>
            </a:r>
            <a:endParaRPr lang="en-US" dirty="0"/>
          </a:p>
          <a:p>
            <a:r>
              <a:rPr lang="en-US" dirty="0"/>
              <a:t>Callback: this roster is the far side of the capability gap — the human as Director of engineered agents across the lifecycle, not one hero producing.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 min] The half everyone skips — what actually holds an L4–L5 practice together. Five pillars, briskly:</a:t>
            </a:r>
            <a:endParaRPr lang="en-US" dirty="0"/>
          </a:p>
          <a:p>
            <a:r>
              <a:rPr lang="en-US" dirty="0"/>
              <a:t>Version control: .agent.md in git, conventional commits (feat(agent):, fix(architecture-reviewer):), BREAKING CHANGE markers when the output contract changes. Code review: every change via PR, tiered minor/moderate/major scaled to blast radius. Testing: 3–5 saved scenarios per agent, re-run on every change. Lifecycle: proposal → … → deprecation, team-owned (consider an agent champion). Deprecation: retire like dead code — mark, point to replacement, grace period, remove.</a:t>
            </a:r>
            <a:endParaRPr lang="en-US" dirty="0"/>
          </a:p>
          <a:p>
            <a:r>
              <a:rPr lang="en-US" dirty="0"/>
              <a:t>IF RUNNING SHORT: compress this slide to 90 seconds and let the next slide (the real commit) carry the section — it's the concrete, highest-payoff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Governance in practice — a REAL commit to this exact agent. Left: the conventional-commit format on an actual change (dual-stack support, later stripped back out for the demo copy). Right: the review tiers it flowed through.</a:t>
            </a:r>
            <a:endParaRPr lang="en-US" dirty="0"/>
          </a:p>
          <a:p>
            <a:r>
              <a:rPr lang="en-US" dirty="0"/>
              <a:t>Punchline (dark bar — say it, don't read it): this is why the cold-open practice wouldn't have stayed trapped in one person's head. Governance is what lets a practice survive the hand-off, without heroes.</a:t>
            </a:r>
            <a:endParaRPr lang="en-US" dirty="0"/>
          </a:p>
          <a:p>
            <a:r>
              <a:rPr lang="en-US" dirty="0"/>
              <a:t>Then: 'Let me show you the real thing' → DEMO slide, switch to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TERMINAL — RETURN HERE AFTER.</a:t>
            </a:r>
          </a:p>
          <a:p>
            <a:r>
              <a:rPr lang="en-US" dirty="0"/>
              <a:t>Run `git show 6f995a3` live — zero risk, no live model calls. Real PR that added dual-stack support to this exact agent, later stripped back out for the demo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Tell them to photograph this slide. Iteration loop across the top: Define → Test → Observe → Refine → Repeat.</a:t>
            </a:r>
            <a:endParaRPr lang="en-US" dirty="0"/>
          </a:p>
          <a:p>
            <a:r>
              <a:rPr lang="en-US" dirty="0"/>
              <a:t>Checklist: don't start from scratch — fork an open-source agent/skill library, then treat it like the rest of this list, not a finished product. Define the contract before the prompt. Decompose into named components. Write 3–5 test scenarios. Commit as a reviewed .agent.md. Iterate on components, not one monolithic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+ Q&amp;A] Close the loop with the cold open: the senior engineer's practice didn't need a smarter model — it needed to stop living in one person's head.</a:t>
            </a:r>
            <a:endParaRPr lang="en-US" dirty="0"/>
          </a:p>
          <a:p>
            <a:r>
              <a:rPr lang="en-US" dirty="0"/>
              <a:t>Restate the thesis in one breath: design your agents, maintain them like code, operationalize the judgment — that's how the human role becomes Director instead of hero producer. Pick your rung on the maturity model and take the next step.</a:t>
            </a:r>
            <a:endParaRPr lang="en-US" dirty="0"/>
          </a:p>
          <a:p>
            <a:r>
              <a:rPr lang="en-US" dirty="0"/>
              <a:t>Point to slides/checklist/agent files location, then open Q&amp;A (~7 min budgeted).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Further reading + where to find me. Four libraries: agent-skills (Addy Osmani), Squad (bradygaster/Microsoft), hve-core (Microsoft), Awesome GitHub Copilot. Repeat the instruction: fork one of these, then treat it like the rest of this talk — contract, components, tests, review.</a:t>
            </a:r>
            <a:endParaRPr lang="en-US" dirty="0"/>
          </a:p>
          <a:p>
            <a:r>
              <a:rPr lang="en-US" dirty="0"/>
              <a:t>Leave this up long enough for photos. Social handles bottom row — verify before Friday that the X/LinkedIn handles are actually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ponsor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ponsorMaster.xml"/></Relationships>
</file>

<file path=ppt/slideLayouts/_rels/sponsor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sponsor-img1.png"/><Relationship Id="rId1" Type="http://schemas.openxmlformats.org/officeDocument/2006/relationships/slideMaster" Target="../slideMasters/sponsorMaster.xml"/></Relationships>
</file>

<file path=ppt/slideLayouts/_rels/sponsor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sponsor-img1.png"/><Relationship Id="rId1" Type="http://schemas.openxmlformats.org/officeDocument/2006/relationships/slideMaster" Target="../slideMasters/sponsorMaster.xml"/></Relationships>
</file>

<file path=ppt/slideLayouts/_rels/sponsor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sponsor-img1.png"/><Relationship Id="rId1" Type="http://schemas.openxmlformats.org/officeDocument/2006/relationships/slideMaster" Target="../slideMasters/sponsorMaster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ponsor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21FDC-657D-4E0B-8561-CC499FF9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2ACD-DEF0-4F5A-88B7-B813DC2C37F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CD1EA-7BA0-42D9-A778-BA8E0CE8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FAADD-9BE4-4986-AD3E-572A5FC7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16788-2EBD-453C-916C-CC6939605B9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E4A0CC-4848-49BE-A058-F2BE5D8FD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93" y="1270821"/>
            <a:ext cx="11886342" cy="49142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616C62-00F6-4264-B895-9F349890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93" y="365125"/>
            <a:ext cx="9415407" cy="7598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653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ponsor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93" y="365125"/>
            <a:ext cx="9415407" cy="7598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93" y="1270820"/>
            <a:ext cx="11886342" cy="54347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7AE848-6D38-4588-95C0-8274006985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5" b="17803"/>
          <a:stretch/>
        </p:blipFill>
        <p:spPr>
          <a:xfrm>
            <a:off x="9958994" y="36786"/>
            <a:ext cx="2047213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1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ponsor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93" y="365125"/>
            <a:ext cx="9415407" cy="7598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7AE848-6D38-4588-95C0-8274006985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5" b="17803"/>
          <a:stretch/>
        </p:blipFill>
        <p:spPr>
          <a:xfrm>
            <a:off x="9958994" y="36786"/>
            <a:ext cx="2047213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1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ponsor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93" y="365125"/>
            <a:ext cx="9415407" cy="7598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7AE848-6D38-4588-95C0-8274006985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5" b="17803"/>
          <a:stretch/>
        </p:blipFill>
        <p:spPr>
          <a:xfrm>
            <a:off x="10579209" y="36786"/>
            <a:ext cx="1426998" cy="148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0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ponsorMaster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ponsorLayout3.xml"/><Relationship Id="rId2" Type="http://schemas.openxmlformats.org/officeDocument/2006/relationships/slideLayout" Target="../slideLayouts/sponsorLayout2.xml"/><Relationship Id="rId1" Type="http://schemas.openxmlformats.org/officeDocument/2006/relationships/slideLayout" Target="../slideLayouts/sponsorLayout1.xml"/><Relationship Id="rId5" Type="http://schemas.openxmlformats.org/officeDocument/2006/relationships/theme" Target="../theme/sponsorTheme.xml"/><Relationship Id="rId4" Type="http://schemas.openxmlformats.org/officeDocument/2006/relationships/slideLayout" Target="../slideLayouts/sponsor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ponsorMaster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2EFDC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C2ACD-DEF0-4F5A-88B7-B813DC2C37F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16788-2EBD-453C-916C-CC693960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ddyosmani/agent-skills" TargetMode="External"/><Relationship Id="rId3" Type="http://schemas.openxmlformats.org/officeDocument/2006/relationships/hyperlink" Target="https://github.com/bradygaster/squad" TargetMode="External"/><Relationship Id="rId4" Type="http://schemas.openxmlformats.org/officeDocument/2006/relationships/hyperlink" Target="https://github.com/microsoft/hve-core" TargetMode="External"/><Relationship Id="rId5" Type="http://schemas.openxmlformats.org/officeDocument/2006/relationships/hyperlink" Target="https://x.com/ShawnWallace" TargetMode="External"/><Relationship Id="rId6" Type="http://schemas.openxmlformats.org/officeDocument/2006/relationships/hyperlink" Target="https://www.linkedin.com/in/shawnwallace/" TargetMode="External"/><Relationship Id="rId7" Type="http://schemas.openxmlformats.org/officeDocument/2006/relationships/hyperlink" Target="https://github.com/shawnewallace" TargetMode="External"/><Relationship Id="rId8" Type="http://schemas.openxmlformats.org/officeDocument/2006/relationships/hyperlink" Target="https://awesome-copilot.github.com" TargetMode="External"/><Relationship Id="rId9" Type="http://schemas.openxmlformats.org/officeDocument/2006/relationships/notesSlide" Target="../notesSlides/notesSlide18.xml"/></Relationships>
</file>

<file path=ppt/slides/_rels/sponsorBack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ponsorLayout3.xml"/><Relationship Id="rId2" Type="http://schemas.openxmlformats.org/officeDocument/2006/relationships/image" Target="../media/sponsor-img2.jpeg"/><Relationship Id="rId3" Type="http://schemas.openxmlformats.org/officeDocument/2006/relationships/image" Target="../media/sponsor-img3.png"/><Relationship Id="rId4" Type="http://schemas.openxmlformats.org/officeDocument/2006/relationships/image" Target="../media/sponsor-img4.png"/><Relationship Id="rId5" Type="http://schemas.openxmlformats.org/officeDocument/2006/relationships/image" Target="../media/sponsor-img5.png"/></Relationships>

</file>

<file path=ppt/slides/_rels/sponsorFront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ponsorLayout3.xml"/><Relationship Id="rId2" Type="http://schemas.openxmlformats.org/officeDocument/2006/relationships/image" Target="../media/sponsor-img2.jpeg"/><Relationship Id="rId3" Type="http://schemas.openxmlformats.org/officeDocument/2006/relationships/image" Target="../media/sponsor-img3.png"/><Relationship Id="rId4" Type="http://schemas.openxmlformats.org/officeDocument/2006/relationships/image" Target="../media/sponsor-img4.png"/><Relationship Id="rId5" Type="http://schemas.openxmlformats.org/officeDocument/2006/relationships/image" Target="../media/sponsor-img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CINCY DELIVER 2026  ·  JULY 24,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 AI-assisted development beyond hero developers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4864" cy="91440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11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we already apply to code — version control, review, testing, lifecycle, deprecation — is exactly what agents need.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 ·  Centric Consulting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 OPEN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engineer's practice worked — for one person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review, no team input — refined solo until it worked exactly right. Genuinely good work.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Inherited, not understood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got the assets, not the judgment. Nobody had shaped the constraints or earned the trust.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4290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stalled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244144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trusted output they hadn't helped build. The work was good — the practice wasn't shared.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64240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60520"/>
            <a:ext cx="54864" cy="141732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2511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didn't fail — the practice was never designed to be handed off.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leave able to build agents you can maintain, test, hand off, and change without fear.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HERO DEVELOPERS DON'T SCALE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good at code. Not software.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52578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vs.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boilerplate and execution. Structure, boundaries, and “is it done / is it correct” are still human judgment.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80760" y="1874520"/>
            <a:ext cx="52578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no one names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44144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seniors with taste — and quietly leaves juniors shipping code that looks senior without understanding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14800"/>
            <a:ext cx="525780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97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trap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68172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a few seniors know when to trust the output, that judgment is trapped in their heads. It doesn't scale or develop the next generation.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411480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4114800"/>
            <a:ext cx="525780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297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wishful thinking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468172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this works itself out. The alternative: operationalize — encode the judgment into artifacts the whole team uses.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_build/maturity_model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≠ SOFTWARE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away from “working” — so teams stop there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different behavior.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Unmaintainable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giant prompt — no named parts.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4290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1874520"/>
            <a:ext cx="34290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24414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shift, it quietly breaks.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064240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886200"/>
            <a:ext cx="54864" cy="105156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5079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pitfalls: task-based agents · vague instructions · over-scoping · no testing · set-and-forget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FOR ENGINEERING AN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→ Instructions → Skills →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128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60604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One-off, chat-invoked, no tools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8346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2103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2128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60604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guardrails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28346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103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2128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260604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knowledge, /skill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78240" y="28346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21031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D16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22128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62288" y="2606040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with tools + workflow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ladder as the maturity model — agents are the engineered end.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WITH NAMED PARTS, NOT A PARAGRAPH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Components model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9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Role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1929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agent 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will / won't 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82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2826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rules, known constraints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59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959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/ NEVER 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87452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29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1929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repeatable steps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551176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structured sections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227832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282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32826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communicates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7183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frontmatter — name, description, tools, model, handoffs.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PROCESS, NOT PROMPT TINKERING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scope → design the output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842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+ success criteria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24917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874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9842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37744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agent 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24917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874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9842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237744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explicit out-of-scope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78240" y="24917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1874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9842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62288" y="237744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structured format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520440"/>
            <a:ext cx="356616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scope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087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not WHAT.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0" y="35204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3520440"/>
            <a:ext cx="356616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constraints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4087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/ NEVER rules.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5204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0" y="3520440"/>
            <a:ext cx="356616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087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sections.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invent this from a blank page — the industry has already converged on this pattern.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DECOMPOSITION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architecture-reviewer.agent.md, component by component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tools: ['read','search/changes'],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Role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0" y="2267712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“Expert software architect specializing in Clean Architecture and DDD.”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706624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list of what it will / won't 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455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43200" y="3145536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layer rules, dependency direction, known violations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0" y="3584448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circular deps · NEVER break boundaries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Process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0" y="402336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repeatable review steps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622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4462272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/ Findings / Recommendations, PR-ready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9011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+ Examples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43200" y="4901184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constructive — concrete violation catalog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64240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5349240"/>
            <a:ext cx="54864" cy="96012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5138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adding a violation bullet to Context is a one-line change — nothing else breaks.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IT'S REAL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produced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1106424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violation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SmtpEmailSender directly and imports Infrastructure into Application — small enough to read in seconds, the violation obvious once flagged.</a:t>
            </a:r>
            <a:endParaRPr lang="en-US" sz="1250" dirty="0"/>
          </a:p>
        </p:txBody>
      </p:sp>
      <p:sp>
        <p:nvSpPr>
          <p:cNvPr id="20" name="Output Card"/>
          <p:cNvSpPr/>
          <p:nvPr/>
        </p:nvSpPr>
        <p:spPr>
          <a:xfrm>
            <a:off x="548640" y="3291840"/>
            <a:ext cx="11064240" cy="2331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Output Text"/>
          <p:cNvSpPr/>
          <p:nvPr/>
        </p:nvSpPr>
        <p:spPr>
          <a:xfrm>
            <a:off x="868680" y="347472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architecture-reviewer — NotificationService.cs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 1 HIGH violation
</a:t>
            </a:r>
            <a:r>
              <a:rPr lang="en-US" sz="1200" b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[HIGH] Application → Infrastructure dependency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NotificationService instantiates SmtpEmailSender directly (line 12)
  Rule: Application MUST NOT reference Infrastructure
</a:t>
            </a:r>
            <a:r>
              <a:rPr lang="en-US" sz="1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Recommendation: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inject IEmailSender; bind the SMTP implementation in the composition root</a:t>
            </a:r>
            <a:endParaRPr lang="en-US" sz="1200" dirty="0"/>
          </a:p>
        </p:txBody>
      </p:sp>
      <p:sp>
        <p:nvSpPr>
          <p:cNvPr id="22" name="Takeaway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Agents don’t make up for a bad process — they amplify a good one. Rigor keeps the artifact aligned with the process, with clear demarcation between phases.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AGENTS ACROSS THE SDLC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different configuration</a:t>
            </a:r>
            <a:endParaRPr lang="en-US" sz="3200" dirty="0"/>
          </a:p>
        </p:txBody>
      </p:sp>
      <p:pic>
        <p:nvPicPr>
          <p:cNvPr id="6" name="Image 0" descr="/tmp/deck_build/sdl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10515600" cy="3803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Reviewer is the only one demoed — already shown a few minutes ago. The rest: named, not opened.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AGENTS LIKE A CODEBASE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 everyone skips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.agent.md in git; conventional commits; BREAKING CHANGE markers when the output contract changes.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874520"/>
            <a:ext cx="35661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4414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via PR. Tiered: minor / moderate / major, scaled to blast radius.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874520"/>
            <a:ext cx="356616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4414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saved test scenarios per agent; re-run on every change to catch regressions.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93192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4988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→ development → review → production → maintenance → deprecation. Team-owned.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3931920"/>
            <a:ext cx="3566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3931920"/>
            <a:ext cx="356616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449884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agents like dead code: mark deprecated, point to replacement, grace period, remove cleanly.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 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6f995a3 — walked live via git show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1828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feat(agent): add dual-stack support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fix(architecture-reviewer): tighten
  DDD boundary check
</a:t>
            </a:r>
            <a:pPr indent="0" marL="0">
              <a:buNone/>
            </a:pPr>
            <a:r>
              <a:rPr lang="en-US" sz="1200" i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BREAKING CHANGE: output schema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now requires ‘Layer’ field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920240"/>
            <a:ext cx="73152" cy="530352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202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1920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— no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542032"/>
            <a:ext cx="73152" cy="5303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54203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25420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constraint — 1 approval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163824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163824"/>
            <a:ext cx="73152" cy="53035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16382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31638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Role/output change — 2 approvals + docs + announce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12801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77640"/>
            <a:ext cx="54864" cy="128016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42232"/>
            <a:ext cx="10424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cold-open practice wouldn't have stayed trapped in one person's head — governance is what lets it survive the hand-off, without heroes.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show 6f995a3 — the real commit that added dual-stack support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MONDAY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Test → Observe → Refine → Repeat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42032" y="24231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9744" y="24231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4064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93792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77456" y="24231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61504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45168" y="242316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19488" y="1874520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9216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29216" y="23774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3924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337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from scratch — fork an open-source agent/skill library (agent-skills, Squad, hve-core)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38496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contract before the prompt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43068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51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named components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7640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3–5 test scenarios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52212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166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as a reviewed .agent.md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5678424"/>
            <a:ext cx="128016" cy="128016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components, not one monolithic prompt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4864" cy="15544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engineer's practice didn't need a smarter model.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needed to stop living in one person's head.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agents. Maintain them like code. Operationalize the judgment — that's how the human role becomes Director instead of hero producer.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394960"/>
            <a:ext cx="5120640" cy="10058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Centric Consulting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5394960"/>
            <a:ext cx="5577840" cy="100584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github.com/shawnewallace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5852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checklist, and agent files: see session page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  |  Cincy Deliver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pointers, and where to find me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289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262890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agent-skills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addyosmani — production-grade skills.</a:t>
            </a:r>
            <a:endParaRPr lang="en-US" sz="1150" dirty="0"/>
          </a:p>
          <a:p>
            <a:pPr indent="0" marL="0">
              <a:buNone/>
            </a:pPr>
            <a:r>
              <a:rPr lang="en-US" sz="1150" u="sng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github.com/addyosmani/agent-skills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0420" y="1874520"/>
            <a:ext cx="26289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0420" y="1874520"/>
            <a:ext cx="262890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205740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9020" y="2468880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bradygaster (MS) — agent teams as files.</a:t>
            </a:r>
            <a:endParaRPr lang="en-US" sz="1150" dirty="0"/>
          </a:p>
          <a:p>
            <a:pPr indent="0" marL="0">
              <a:buNone/>
            </a:pPr>
            <a:r>
              <a:rPr lang="en-US" sz="1150" u="sng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github.com/bradygaster/squad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26289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874520"/>
            <a:ext cx="262890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5740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hve-core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agents, skills + RPI.</a:t>
            </a:r>
            <a:endParaRPr lang="en-US" sz="1150" dirty="0"/>
          </a:p>
          <a:p>
            <a:pPr indent="0" marL="0">
              <a:buNone/>
            </a:pPr>
            <a:r>
              <a:rPr lang="en-US" sz="1150" u="sng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github.com/microsoft/hve-core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83980" y="1874520"/>
            <a:ext cx="26289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83980" y="1874520"/>
            <a:ext cx="2628900" cy="54864"/>
          </a:xfrm>
          <a:prstGeom prst="rect">
            <a:avLst/>
          </a:prstGeom>
          <a:solidFill>
            <a:srgbClr val="4F9DE6"/>
          </a:solidFill>
          <a:ln/>
        </p:spPr>
      </p:sp>
      <p:sp>
        <p:nvSpPr>
          <p:cNvPr id="33" name="Text 31"/>
          <p:cNvSpPr/>
          <p:nvPr/>
        </p:nvSpPr>
        <p:spPr>
          <a:xfrm>
            <a:off x="9212580" y="2057400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 Copilot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12580" y="2468880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Copilot customizations.</a:t>
            </a:r>
            <a:endParaRPr lang="en-US" sz="1150" dirty="0"/>
          </a:p>
          <a:p>
            <a:pPr indent="0" marL="0">
              <a:buNone/>
            </a:pPr>
            <a:r>
              <a:rPr lang="en-US" sz="1150" u="sng" dirty="0">
                <a:solidFill>
                  <a:srgbClr val="4F9D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awesome-copilot.github.com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4904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150" dirty="0"/>
          </a:p>
          <a:p>
            <a:pPr indent="0" marL="0">
              <a:buNone/>
            </a:pPr>
            <a:r>
              <a:rPr lang="en-US" sz="1150" u="sng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x.com/ShawnWallace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374904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374904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2628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150" dirty="0"/>
          </a:p>
          <a:p>
            <a:pPr indent="0" marL="0">
              <a:buNone/>
            </a:pPr>
            <a:r>
              <a:rPr lang="en-US" sz="1150" u="sng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linkedin.com/in/shawnwallace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374904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3749040"/>
            <a:ext cx="356616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7532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Wallace</a:t>
            </a:r>
            <a:endParaRPr lang="en-US" sz="1150" dirty="0"/>
          </a:p>
          <a:p>
            <a:pPr indent="0" marL="0">
              <a:buNone/>
            </a:pPr>
            <a:r>
              <a:rPr lang="en-US" sz="1150" u="sng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github.com/shawnewallace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from scratch — fork one of these, then treat it like the rest of this talk.</a:t>
            </a:r>
            <a:endParaRPr lang="en-US" sz="1400" dirty="0"/>
          </a:p>
        </p:txBody>
      </p:sp>
    </p:spTree>
  </p:cSld>
  <p:clrMapOvr>
    <a:masterClrMapping/>
  </p:clrMapOvr>
</p:sld>
</file>

<file path=ppt/slides/sponsorBack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5E21-BA95-4584-A9CF-E5D79C06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Cincy Deliver 2026 Sponsors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4BAF8-AA63-48BB-85EE-9DC662C24FAE}"/>
              </a:ext>
            </a:extLst>
          </p:cNvPr>
          <p:cNvSpPr txBox="1"/>
          <p:nvPr/>
        </p:nvSpPr>
        <p:spPr>
          <a:xfrm>
            <a:off x="185793" y="1037223"/>
            <a:ext cx="1625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Diamond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665F5-9420-4FA4-A3A4-38FFA2B3287D}"/>
              </a:ext>
            </a:extLst>
          </p:cNvPr>
          <p:cNvSpPr txBox="1"/>
          <p:nvPr/>
        </p:nvSpPr>
        <p:spPr>
          <a:xfrm>
            <a:off x="157006" y="3119929"/>
            <a:ext cx="1584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Platinum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9ACE765-1C79-411E-949B-7C911B457A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6" y="1645165"/>
            <a:ext cx="4360593" cy="124822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A6D6F450-189B-2BAF-DB38-E41881C50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0470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2DE8A38-D4CD-29BB-484B-2F1DF89D5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0470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50946A4-303E-C326-CF4F-6AC41DBD0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52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4FC72-4AE2-876E-C29B-0F22AC595E4A}"/>
              </a:ext>
            </a:extLst>
          </p:cNvPr>
          <p:cNvSpPr txBox="1"/>
          <p:nvPr/>
        </p:nvSpPr>
        <p:spPr>
          <a:xfrm>
            <a:off x="157006" y="4825183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Gold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F79D14D-5125-5849-1C0F-CF0B22401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90145"/>
            <a:ext cx="3817011" cy="151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0806EC-0D60-DD6A-D05A-2F840CB02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99" y="3739724"/>
            <a:ext cx="6773800" cy="941660"/>
          </a:xfrm>
          <a:prstGeom prst="rect">
            <a:avLst/>
          </a:prstGeom>
        </p:spPr>
      </p:pic>
      <p:pic>
        <p:nvPicPr>
          <p:cNvPr id="13" name="Picture 12" descr="https://www.cincydeliver.org/Images/Sponsors/vindex.png">
            <a:extLst>
              <a:ext uri="{FF2B5EF4-FFF2-40B4-BE49-F238E27FC236}">
                <a16:creationId xmlns:a16="http://schemas.microsoft.com/office/drawing/2014/main" id="{A511DFEB-9ED9-E989-5DB9-24455217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492202"/>
            <a:ext cx="3137056" cy="88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ponsorFront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5E21-BA95-4584-A9CF-E5D79C06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Cincy Deliver 2026 Sponsors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4BAF8-AA63-48BB-85EE-9DC662C24FAE}"/>
              </a:ext>
            </a:extLst>
          </p:cNvPr>
          <p:cNvSpPr txBox="1"/>
          <p:nvPr/>
        </p:nvSpPr>
        <p:spPr>
          <a:xfrm>
            <a:off x="185793" y="1037223"/>
            <a:ext cx="1625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Diamond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665F5-9420-4FA4-A3A4-38FFA2B3287D}"/>
              </a:ext>
            </a:extLst>
          </p:cNvPr>
          <p:cNvSpPr txBox="1"/>
          <p:nvPr/>
        </p:nvSpPr>
        <p:spPr>
          <a:xfrm>
            <a:off x="157006" y="3119929"/>
            <a:ext cx="1584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Platinum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9ACE765-1C79-411E-949B-7C911B457A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6" y="1645165"/>
            <a:ext cx="4360593" cy="124822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A6D6F450-189B-2BAF-DB38-E41881C50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0470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2DE8A38-D4CD-29BB-484B-2F1DF89D5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0470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50946A4-303E-C326-CF4F-6AC41DBD0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52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mbria" panose="020405030504060302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4FC72-4AE2-876E-C29B-0F22AC595E4A}"/>
              </a:ext>
            </a:extLst>
          </p:cNvPr>
          <p:cNvSpPr txBox="1"/>
          <p:nvPr/>
        </p:nvSpPr>
        <p:spPr>
          <a:xfrm>
            <a:off x="157006" y="4825183"/>
            <a:ext cx="944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Gold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F79D14D-5125-5849-1C0F-CF0B22401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90145"/>
            <a:ext cx="3817011" cy="151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0806EC-0D60-DD6A-D05A-2F840CB02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99" y="3739724"/>
            <a:ext cx="6773800" cy="941660"/>
          </a:xfrm>
          <a:prstGeom prst="rect">
            <a:avLst/>
          </a:prstGeom>
        </p:spPr>
      </p:pic>
      <p:pic>
        <p:nvPicPr>
          <p:cNvPr id="13" name="Picture 12" descr="https://www.cincydeliver.org/Images/Sponsors/vindex.png">
            <a:extLst>
              <a:ext uri="{FF2B5EF4-FFF2-40B4-BE49-F238E27FC236}">
                <a16:creationId xmlns:a16="http://schemas.microsoft.com/office/drawing/2014/main" id="{A511DFEB-9ED9-E989-5DB9-24455217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492202"/>
            <a:ext cx="3137056" cy="88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theme/sponsorTheme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Are Products, Not Prompts</dc:title>
  <dc:subject>PptxGenJS Presentation</dc:subject>
  <dc:creator>Shawn Wallace</dc:creator>
  <cp:lastModifiedBy>Shawn Wallace</cp:lastModifiedBy>
  <cp:revision>1</cp:revision>
  <dcterms:created xsi:type="dcterms:W3CDTF">2026-07-20T16:46:28Z</dcterms:created>
  <dcterms:modified xsi:type="dcterms:W3CDTF">2026-07-20T16:46:28Z</dcterms:modified>
</cp:coreProperties>
</file>